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sclinic.com.tr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Performance</c:v>
                </c:pt>
                <c:pt idx="1">
                  <c:v>Accessibility</c:v>
                </c:pt>
                <c:pt idx="2">
                  <c:v>Best Practices</c:v>
                </c:pt>
                <c:pt idx="3">
                  <c:v>SEO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</c:v>
                </c:pt>
                <c:pt idx="1">
                  <c:v>0.61</c:v>
                </c:pt>
                <c:pt idx="2">
                  <c:v>0.54</c:v>
                </c:pt>
                <c:pt idx="3">
                  <c:v>0.83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sclinic.ae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Performance</c:v>
                </c:pt>
                <c:pt idx="1">
                  <c:v>Accessibility</c:v>
                </c:pt>
                <c:pt idx="2">
                  <c:v>Best Practices</c:v>
                </c:pt>
                <c:pt idx="3">
                  <c:v>SEO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0.65</c:v>
                </c:pt>
                <c:pt idx="1">
                  <c:v>0.81</c:v>
                </c:pt>
                <c:pt idx="2">
                  <c:v>0.54</c:v>
                </c:pt>
                <c:pt idx="3">
                  <c:v>0.83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0.2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5852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SClinic Technical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5669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CE6F3"/>
                </a:solidFill>
                <a:latin typeface="Calibri"/>
              </a:rPr>
              <a:t>Client deck | evidence-backed recommendation to rebuild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126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0F5FB"/>
                </a:solidFill>
                <a:latin typeface="Calibri"/>
              </a:rPr>
              <a:t>This deck summarizes the audit findings, business implications, and the recommended next step for the Turkish and Dubai sites.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251960"/>
            <a:ext cx="2331720" cy="914400"/>
          </a:xfrm>
          <a:prstGeom prst="roundRect">
            <a:avLst/>
          </a:prstGeom>
          <a:solidFill>
            <a:srgbClr val="17304C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251960"/>
            <a:ext cx="2331720" cy="54864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4325112"/>
            <a:ext cx="2185415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80"/>
            <a:ext cx="2185415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0.71 / 0.65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818888"/>
            <a:ext cx="218541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Lighthouse scores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4251960"/>
            <a:ext cx="2331720" cy="914400"/>
          </a:xfrm>
          <a:prstGeom prst="roundRect">
            <a:avLst/>
          </a:prstGeom>
          <a:solidFill>
            <a:srgbClr val="17304C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7248" y="4251960"/>
            <a:ext cx="2331720" cy="54864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325112"/>
            <a:ext cx="2185415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526280"/>
            <a:ext cx="2185415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818888"/>
            <a:ext cx="218541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Legacy stack + JS bug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96128" y="4251960"/>
            <a:ext cx="2331720" cy="914400"/>
          </a:xfrm>
          <a:prstGeom prst="roundRect">
            <a:avLst/>
          </a:prstGeom>
          <a:solidFill>
            <a:srgbClr val="17304C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96128" y="4251960"/>
            <a:ext cx="2331720" cy="54864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4325112"/>
            <a:ext cx="2185415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526280"/>
            <a:ext cx="2185415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Rebuild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818888"/>
            <a:ext cx="218541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Recommended direction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868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868680"/>
            <a:ext cx="342900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7" y="978407"/>
            <a:ext cx="32095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Evidence basis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1252728"/>
            <a:ext cx="3209544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Headers, robots/sitemap captures, browser inspection, console output, and Lighthouse JSON for both sites.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3317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331720"/>
            <a:ext cx="342900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7" y="2441448"/>
            <a:ext cx="32095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Core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2715768"/>
            <a:ext cx="3209544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Legacy PHP 7.4.33 stack, runtime JS exception, repeated hero content, and weak public hardening.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794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794760"/>
            <a:ext cx="342900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7" y="3904488"/>
            <a:ext cx="32095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7" y="4178808"/>
            <a:ext cx="3209544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Proceed with a phased rebuild that improves speed, trust, SEO clarity, and maintainability.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238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55778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4A5668"/>
                </a:solidFill>
                <a:latin typeface="Calibri"/>
              </a:rPr>
              <a:t>Both sites are functional, but they share a legacy technical foundation and a homepage pattern that is too heavy, too repetitive, and too fragile. The current state is good enough to operate, but not ideal for a premium healthcare brand.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530352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38528"/>
            <a:ext cx="50840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12848"/>
            <a:ext cx="5084064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Rebuild the platform rather than layering more fixes onto the current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54680"/>
            <a:ext cx="493776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50">
                <a:solidFill>
                  <a:srgbClr val="4A5668"/>
                </a:solidFill>
                <a:latin typeface="Calibri"/>
              </a:rPr>
              <a:t>Legacy stack: nginx + PHP/7.4.33 + PleskLin</a:t>
            </a:r>
          </a:p>
          <a:p>
            <a:pPr algn="l"/>
            <a:r>
              <a:rPr sz="1250">
                <a:solidFill>
                  <a:srgbClr val="4A5668"/>
                </a:solidFill>
                <a:latin typeface="Calibri"/>
              </a:rPr>
              <a:t>Same JavaScript exception on both homepages</a:t>
            </a:r>
          </a:p>
          <a:p>
            <a:pPr algn="l"/>
            <a:r>
              <a:rPr sz="1250">
                <a:solidFill>
                  <a:srgbClr val="4A5668"/>
                </a:solidFill>
                <a:latin typeface="Calibri"/>
              </a:rPr>
              <a:t>The .ae sitemap still contains Turkish legacy URLs</a:t>
            </a:r>
          </a:p>
          <a:p>
            <a:pPr algn="l"/>
            <a:r>
              <a:rPr sz="1250">
                <a:solidFill>
                  <a:srgbClr val="4A5668"/>
                </a:solidFill>
                <a:latin typeface="Calibri"/>
              </a:rPr>
              <a:t>Lighthouse reports layout shifts, unused JS, and cache waste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73152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731520"/>
            <a:ext cx="539496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841248"/>
            <a:ext cx="5175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What this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115568"/>
            <a:ext cx="5175504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Incremental patching will keep the current problems alive: slower interaction, more maintenance burden, weaker accessibility, and less clarity for users choosing a consultation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926080"/>
            <a:ext cx="5394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926080"/>
            <a:ext cx="539496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3035808"/>
            <a:ext cx="5175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Commercial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3310128"/>
            <a:ext cx="5175504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A cleaner rebuild gives the team a better platform for conversions, localization, and SEO growth.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709160"/>
            <a:ext cx="5394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709160"/>
            <a:ext cx="539496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4818888"/>
            <a:ext cx="5175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5093208"/>
            <a:ext cx="5175504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Approve a phased rebuild with strict migration rules and performance budgets.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238"/>
                </a:solidFill>
                <a:latin typeface="Calibri"/>
              </a:rPr>
              <a:t>Evidence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777240"/>
          <a:ext cx="658368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269480" y="868680"/>
            <a:ext cx="4297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69480" y="868680"/>
            <a:ext cx="429768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978407"/>
            <a:ext cx="4078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Runtime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9208" y="1252728"/>
            <a:ext cx="407822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Both homepages log the same JavaScript exception in aliaygir.js.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920240"/>
            <a:ext cx="4297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480" y="1920240"/>
            <a:ext cx="429768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9208" y="2029968"/>
            <a:ext cx="4078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Cache 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2304288"/>
            <a:ext cx="407822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Lighthouse estimates 2.2 MiB and 1.9 MiB of cache savings.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971800"/>
            <a:ext cx="4297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971800"/>
            <a:ext cx="429768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3081528"/>
            <a:ext cx="4078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Layout shifts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3355848"/>
            <a:ext cx="407822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Each page triggers 15 layout shifts and visible instability.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023360"/>
            <a:ext cx="4297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4023360"/>
            <a:ext cx="429768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4133088"/>
            <a:ext cx="4078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Stack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4407408"/>
            <a:ext cx="4078224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Headers expose nginx, PHP/7.4.33, and PleskLin. Browser inspection shows legacy jQuery-era assets plus GTM, Google Ads, and Facebook Pixel.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074920"/>
            <a:ext cx="2240280" cy="54864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148072"/>
            <a:ext cx="20939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COM.TR UNUSED 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349240"/>
            <a:ext cx="20939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311 KiB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64184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Est. savings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507492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63240" y="5074920"/>
            <a:ext cx="2240280" cy="54864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36392" y="5148072"/>
            <a:ext cx="20939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AE UNUSED 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6392" y="5349240"/>
            <a:ext cx="20939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429 KiB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6392" y="564184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Est.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507492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0680" y="5074920"/>
            <a:ext cx="2240280" cy="54864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13832" y="5148072"/>
            <a:ext cx="20939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COM.TR CLS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2" y="5349240"/>
            <a:ext cx="20939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0.434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13832" y="564184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Too 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20" y="5074920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5074920"/>
            <a:ext cx="2240280" cy="54864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2" y="5148072"/>
            <a:ext cx="20939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AE CLS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2" y="5349240"/>
            <a:ext cx="20939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0.344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564184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Still high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238"/>
                </a:solidFill>
                <a:latin typeface="Calibri"/>
              </a:rPr>
              <a:t>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53949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539496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51755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What the numbers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61288"/>
            <a:ext cx="5175504" cy="4663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First paint is acceptable, but interactivity is slow, layout stability is weak, and the sites are carrying too much unused script and image weight.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868680"/>
          <a:ext cx="3566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sclinic.com.tr</a:t>
                      </a:r>
                    </a:p>
                  </a:txBody>
                  <a:tcPr>
                    <a:solidFill>
                      <a:srgbClr val="1B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sclinic.ae</a:t>
                      </a:r>
                    </a:p>
                  </a:txBody>
                  <a:tcPr>
                    <a:solidFill>
                      <a:srgbClr val="1B2B4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FCP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2.2s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2.5s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LCP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2.2s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3.5s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TTI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9.9s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12.1s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CLS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0.434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32238"/>
                          </a:solidFill>
                          <a:latin typeface="Calibri"/>
                        </a:rPr>
                        <a:t>0.344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72200" y="3383280"/>
            <a:ext cx="5440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3383280"/>
            <a:ext cx="544068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3493008"/>
            <a:ext cx="5221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Operational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3767328"/>
            <a:ext cx="5221224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More bytes, more scripts, more shifts, and slower interaction readiness create friction for mobile users and weaken conversion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709160"/>
            <a:ext cx="2514600" cy="54864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4782312"/>
            <a:ext cx="23682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COM.TR CACHE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4983480"/>
            <a:ext cx="23682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2.2 MiB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5276088"/>
            <a:ext cx="23682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Estimated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4709160"/>
            <a:ext cx="2514600" cy="54864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4782312"/>
            <a:ext cx="23682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AE CACHE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4983480"/>
            <a:ext cx="23682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1.9 MiB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5276088"/>
            <a:ext cx="236829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Estimated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238"/>
                </a:solidFill>
                <a:latin typeface="Calibri"/>
              </a:rPr>
              <a:t>Security and stack posture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356616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33467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Public posture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07008"/>
            <a:ext cx="3346704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The captured response does not show a modern hardening baseline such as CSP, HSTS, X-Frame-Options, Referrer-Policy, or Permissions-Policy.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880360"/>
            <a:ext cx="356616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990088"/>
            <a:ext cx="33467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Cookie / script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264408"/>
            <a:ext cx="3346704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The session cookie is exposed without visible HttpOnly in the capture, and the page relies on multiple third-party tags that add privacy and performance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937760"/>
            <a:ext cx="3566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937760"/>
            <a:ext cx="356616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5047488"/>
            <a:ext cx="33467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Runtime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321808"/>
            <a:ext cx="334670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A null addEventListener exception appears in aliaygir.js.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82296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822960"/>
            <a:ext cx="356616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932688"/>
            <a:ext cx="33467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Legacy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1207008"/>
            <a:ext cx="3346704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The stack is still anchored in nginx + PHP/7.4.33 + PleskLin, with old jQuery, carousel, lightbox, and lazyload assets.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88036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880360"/>
            <a:ext cx="356616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990088"/>
            <a:ext cx="33467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Recommended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264408"/>
            <a:ext cx="3346704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If the current stack stays live, add the security baseline, remove the JS exception, and cut unused scripts immediately.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937760"/>
            <a:ext cx="3566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937760"/>
            <a:ext cx="356616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5047488"/>
            <a:ext cx="33467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Risk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321808"/>
            <a:ext cx="334670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Medium-high for hardening; high for maintainability.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822960"/>
            <a:ext cx="34290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822960"/>
            <a:ext cx="342900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932688"/>
            <a:ext cx="32095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Executive 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1207008"/>
            <a:ext cx="3209544" cy="4572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This is not evidence of active compromise. It is evidence of a dated public posture that should be treated as a rebuild trigger, not a long-term operating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238"/>
                </a:solidFill>
                <a:latin typeface="Calibri"/>
              </a:rPr>
              <a:t>SEO and localization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749039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3749039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3529583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What is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07008"/>
            <a:ext cx="3529583" cy="4800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robots.txt allows crawling, both sites expose sitemaps, and SEO scores are acceptable. The foundation exists, but it is not yet cleanly organized for two markets.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914400"/>
            <a:ext cx="1828800" cy="54864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987552"/>
            <a:ext cx="16824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.COM.TR URLS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188720"/>
            <a:ext cx="16824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481328"/>
            <a:ext cx="1682496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Unique sitemap URLs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91440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914400"/>
            <a:ext cx="1828800" cy="54864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987552"/>
            <a:ext cx="16824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.AE URLS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1188720"/>
            <a:ext cx="16824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1481328"/>
            <a:ext cx="1682496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Unique sitemap URLs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91440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914400"/>
            <a:ext cx="1828800" cy="54864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987552"/>
            <a:ext cx="16824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718096"/>
                </a:solidFill>
                <a:latin typeface="Calibri"/>
              </a:rPr>
              <a:t>LOCALE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1188720"/>
            <a:ext cx="16824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32238"/>
                </a:solidFill>
                <a:latin typeface="Calibri"/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1481328"/>
            <a:ext cx="1682496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>
                <a:solidFill>
                  <a:srgbClr val="718096"/>
                </a:solidFill>
                <a:latin typeface="Calibri"/>
              </a:rPr>
              <a:t>Turkish routes remain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148840"/>
            <a:ext cx="5669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2148840"/>
            <a:ext cx="566928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2258568"/>
            <a:ext cx="54498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Localization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2532888"/>
            <a:ext cx="544982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The .ae sitemap still includes Turkish legacy URLs such as s-clinic-eryaman-ankaraman, s-clinic-cayyolu, and s-clinic-ankara. That suggests reuse rather than market-specific architecture.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520440"/>
            <a:ext cx="5669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520440"/>
            <a:ext cx="566928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630168"/>
            <a:ext cx="54498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SEO implication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3904488"/>
            <a:ext cx="544982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Mixed-market routing can dilute relevance, confuse users, and make search intent harder to read.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892040"/>
            <a:ext cx="5669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4892040"/>
            <a:ext cx="566928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5001768"/>
            <a:ext cx="54498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Rebuild objective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5276088"/>
            <a:ext cx="544982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Separate locale content cleanly and rebuild metadata, structured data, and URL conventions from the ground up.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78440" y="2148840"/>
            <a:ext cx="13258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78440" y="2148840"/>
            <a:ext cx="132588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88167" y="2258568"/>
            <a:ext cx="1106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88167" y="2532888"/>
            <a:ext cx="1106424" cy="3429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Use market-specific content models, canonical rules, and sitemap governance.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238"/>
                </a:solidFill>
                <a:latin typeface="Calibri"/>
              </a:rPr>
              <a:t>UX and accessibility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47548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475488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4535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User experience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07008"/>
            <a:ext cx="4535424" cy="4800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The homepage uses repeated hero slides, multiple similar CTAs, and a dense content stack. The result is visual noise rather than a clear path to consultation.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2062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50">
                <a:solidFill>
                  <a:srgbClr val="4A5668"/>
                </a:solidFill>
                <a:latin typeface="Calibri"/>
              </a:rPr>
              <a:t>Repeated hero content weakens message clarity.</a:t>
            </a:r>
          </a:p>
          <a:p>
            <a:pPr algn="l"/>
            <a:r>
              <a:rPr sz="1250">
                <a:solidFill>
                  <a:srgbClr val="4A5668"/>
                </a:solidFill>
                <a:latin typeface="Calibri"/>
              </a:rPr>
              <a:t>The primary CTA is not dominant enough at first glance.</a:t>
            </a:r>
          </a:p>
          <a:p>
            <a:pPr algn="l"/>
            <a:r>
              <a:rPr sz="1250">
                <a:solidFill>
                  <a:srgbClr val="4A5668"/>
                </a:solidFill>
                <a:latin typeface="Calibri"/>
              </a:rPr>
              <a:t>Content blocks feel stacked rather than prioritized.</a:t>
            </a:r>
          </a:p>
          <a:p>
            <a:pPr algn="l"/>
            <a:r>
              <a:rPr sz="1250">
                <a:solidFill>
                  <a:srgbClr val="4A5668"/>
                </a:solidFill>
                <a:latin typeface="Calibri"/>
              </a:rPr>
              <a:t>Mobile usability is affected by layout shifts and tap-target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822960"/>
            <a:ext cx="6126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822960"/>
            <a:ext cx="612648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932688"/>
            <a:ext cx="59070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Accessibility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1207008"/>
            <a:ext cx="5907024" cy="1417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Lighthouse flags missing alt text, missing main landmarks, links without discernible text, insufficient contrast, and touch targets that are too small.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880360"/>
            <a:ext cx="6126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2880360"/>
            <a:ext cx="612648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990088"/>
            <a:ext cx="59070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Conversion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3264408"/>
            <a:ext cx="5907024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When the hierarchy is unclear, users work harder to find consultation, location, and trust information — especially on mobile.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434840"/>
            <a:ext cx="61264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4434840"/>
            <a:ext cx="612648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4544568"/>
            <a:ext cx="59070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Rebuild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4818888"/>
            <a:ext cx="5907024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A cleaner information architecture, stronger CTA hierarchy, and accessible components should be core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583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32238"/>
                </a:solidFill>
                <a:latin typeface="Calibri"/>
              </a:rPr>
              <a:t>Rebuild recommendation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51663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5166360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49469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07008"/>
            <a:ext cx="4946904" cy="4846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Build a modern healthcare platform with a clean content model, reusable components, SEO-safe templates, performance budgets, and a localized structure for Turkish and English markets. The goal is a platform that is faster, safer, and easier to operate.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822960"/>
            <a:ext cx="5623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06440" y="822960"/>
            <a:ext cx="5623560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16168" y="932688"/>
            <a:ext cx="54041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Core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1207008"/>
            <a:ext cx="5404104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Modern CMS or custom WordPress block architecture, CDN-backed hosting, responsive images, analytics governance, and secure defaults.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148840"/>
            <a:ext cx="1024128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2148840"/>
            <a:ext cx="1024128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6168" y="2258568"/>
            <a:ext cx="8046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2532888"/>
            <a:ext cx="804672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Inventory content, routes, redirects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22007" y="2148840"/>
            <a:ext cx="1024128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22007" y="2148840"/>
            <a:ext cx="1024128" cy="64008"/>
          </a:xfrm>
          <a:prstGeom prst="rect">
            <a:avLst/>
          </a:prstGeom>
          <a:solidFill>
            <a:srgbClr val="D7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31736" y="2258568"/>
            <a:ext cx="8046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2532888"/>
            <a:ext cx="804672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Define templates and design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2148840"/>
            <a:ext cx="1024128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7575" y="2148840"/>
            <a:ext cx="1024128" cy="64008"/>
          </a:xfrm>
          <a:prstGeom prst="rect">
            <a:avLst/>
          </a:prstGeom>
          <a:solidFill>
            <a:srgbClr val="1B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3" y="2258568"/>
            <a:ext cx="8046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3" y="2532888"/>
            <a:ext cx="804672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Implement CMS and pages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2148840"/>
            <a:ext cx="1024128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2148840"/>
            <a:ext cx="1024128" cy="64008"/>
          </a:xfrm>
          <a:prstGeom prst="rect">
            <a:avLst/>
          </a:prstGeom>
          <a:solidFill>
            <a:srgbClr val="1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2258568"/>
            <a:ext cx="8046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QA +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532888"/>
            <a:ext cx="804672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Validate performance and forms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8712" y="2148840"/>
            <a:ext cx="1024128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68712" y="2148840"/>
            <a:ext cx="1024128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2258568"/>
            <a:ext cx="8046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Stabilize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2532888"/>
            <a:ext cx="804672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Monitor search, errors, conversions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5166360"/>
            <a:ext cx="5623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06440" y="5166360"/>
            <a:ext cx="5623560" cy="64008"/>
          </a:xfrm>
          <a:prstGeom prst="rect">
            <a:avLst/>
          </a:prstGeom>
          <a:solidFill>
            <a:srgbClr val="B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16168" y="5276088"/>
            <a:ext cx="54041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2B49"/>
                </a:solidFill>
                <a:latin typeface="Calibri"/>
              </a:rPr>
              <a:t>Success criteria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5550408"/>
            <a:ext cx="5404104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4A5668"/>
                </a:solidFill>
                <a:latin typeface="Calibri"/>
              </a:rPr>
              <a:t>Faster pages, clearer consultation funnels, cleaner localization, and a platform the team can maintain confidently.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